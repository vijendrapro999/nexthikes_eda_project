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6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20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32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53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534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26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809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9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954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360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17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0185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434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8298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178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444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2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734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  <p:sldLayoutId id="2147483871" r:id="rId15"/>
    <p:sldLayoutId id="214748387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480" y="255543"/>
            <a:ext cx="8637073" cy="781405"/>
          </a:xfrm>
        </p:spPr>
        <p:txBody>
          <a:bodyPr>
            <a:noAutofit/>
          </a:bodyPr>
          <a:lstStyle/>
          <a:p>
            <a:r>
              <a:rPr lang="en-GB" sz="3200" b="1" dirty="0" smtClean="0"/>
              <a:t>Retail</a:t>
            </a:r>
            <a:r>
              <a:rPr lang="en-GB" sz="6000" b="1" dirty="0" smtClean="0"/>
              <a:t> </a:t>
            </a:r>
            <a:r>
              <a:rPr lang="en-GB" sz="2400" b="1" dirty="0" smtClean="0"/>
              <a:t>Dataset – Exploratory Data Analysis (EDA) </a:t>
            </a:r>
            <a:endParaRPr lang="en-GB" sz="2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1599" y="4181653"/>
            <a:ext cx="8637072" cy="977621"/>
          </a:xfrm>
        </p:spPr>
        <p:txBody>
          <a:bodyPr/>
          <a:lstStyle/>
          <a:p>
            <a:r>
              <a:rPr lang="en-GB" sz="2400" u="sng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Next hikes It Solutions</a:t>
            </a:r>
          </a:p>
          <a:p>
            <a:r>
              <a:rPr lang="en-GB" sz="2000" dirty="0" smtClean="0"/>
              <a:t>Developed by : </a:t>
            </a:r>
            <a:r>
              <a:rPr lang="en-GB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</a:t>
            </a:r>
            <a:r>
              <a:rPr lang="en-GB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ijendra </a:t>
            </a:r>
            <a:r>
              <a:rPr lang="en-GB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</a:t>
            </a:r>
            <a:r>
              <a:rPr lang="en-GB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aishnav</a:t>
            </a:r>
            <a:endParaRPr lang="en-GB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852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smtClean="0"/>
              <a:t>Introduction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905000"/>
            <a:ext cx="8915400" cy="3777622"/>
          </a:xfrm>
        </p:spPr>
        <p:txBody>
          <a:bodyPr/>
          <a:lstStyle/>
          <a:p>
            <a:r>
              <a:rPr lang="en-GB" sz="2000" dirty="0" smtClean="0"/>
              <a:t>What is EDA : Understanding data before modeling.</a:t>
            </a:r>
          </a:p>
          <a:p>
            <a:r>
              <a:rPr lang="en-GB" sz="2000" dirty="0" smtClean="0"/>
              <a:t>Importance : Detect pattern, anomalies, and insights.</a:t>
            </a:r>
          </a:p>
          <a:p>
            <a:r>
              <a:rPr lang="en-GB" sz="2000" dirty="0" smtClean="0"/>
              <a:t>Scope : Retail dataset with 100000 Rows and 18 Columns.</a:t>
            </a:r>
          </a:p>
          <a:p>
            <a:endParaRPr lang="en-GB" dirty="0" smtClean="0"/>
          </a:p>
          <a:p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401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smtClean="0"/>
              <a:t>Subtitle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Univariate Analysis</a:t>
            </a:r>
          </a:p>
          <a:p>
            <a:r>
              <a:rPr lang="en-GB" sz="2000" dirty="0" smtClean="0"/>
              <a:t>Bivariate Analysis</a:t>
            </a:r>
          </a:p>
          <a:p>
            <a:r>
              <a:rPr lang="en-GB" sz="2000" dirty="0" smtClean="0"/>
              <a:t>Multivariate Analysis</a:t>
            </a:r>
          </a:p>
          <a:p>
            <a:r>
              <a:rPr lang="en-GB" sz="2000" dirty="0" smtClean="0"/>
              <a:t>Outliers</a:t>
            </a:r>
          </a:p>
          <a:p>
            <a:r>
              <a:rPr lang="en-GB" sz="2000" dirty="0" smtClean="0"/>
              <a:t>Correlation</a:t>
            </a:r>
          </a:p>
          <a:p>
            <a:r>
              <a:rPr lang="en-GB" sz="2000" dirty="0" smtClean="0"/>
              <a:t>Skewness</a:t>
            </a:r>
          </a:p>
          <a:p>
            <a:r>
              <a:rPr lang="en-GB" sz="2000" dirty="0" smtClean="0"/>
              <a:t>Kurtosis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9241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1065" y="586403"/>
            <a:ext cx="8911687" cy="1280890"/>
          </a:xfrm>
        </p:spPr>
        <p:txBody>
          <a:bodyPr>
            <a:normAutofit/>
          </a:bodyPr>
          <a:lstStyle/>
          <a:p>
            <a:r>
              <a:rPr lang="en-GB" sz="4000" dirty="0" smtClean="0"/>
              <a:t>Project overview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065" y="1978025"/>
            <a:ext cx="9603275" cy="3450613"/>
          </a:xfrm>
        </p:spPr>
        <p:txBody>
          <a:bodyPr>
            <a:normAutofit/>
          </a:bodyPr>
          <a:lstStyle/>
          <a:p>
            <a:r>
              <a:rPr lang="en-GB" dirty="0" smtClean="0"/>
              <a:t>Exploratory data analysis (EDA) was performed on a retail transaction dataset.</a:t>
            </a:r>
          </a:p>
          <a:p>
            <a:r>
              <a:rPr lang="en-GB" dirty="0" smtClean="0"/>
              <a:t>The dataset contain 100000 Row and 18 Columns.</a:t>
            </a:r>
          </a:p>
          <a:p>
            <a:r>
              <a:rPr lang="en-GB" dirty="0" smtClean="0"/>
              <a:t>The analysis focus on customer behaviour, product pricing, discount , quantity, final transaction value and delivery performance.</a:t>
            </a:r>
          </a:p>
          <a:p>
            <a:r>
              <a:rPr lang="en-GB" dirty="0" smtClean="0"/>
              <a:t>Data type Numerical, Categorical, Date/Time.</a:t>
            </a:r>
          </a:p>
          <a:p>
            <a:r>
              <a:rPr lang="en-GB" dirty="0" smtClean="0"/>
              <a:t>Python, Pandas, Matplotlib and Seaborn used for analysis and visualization.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b="1" dirty="0" smtClean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495090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objective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Performed Univariate Analysis of numeric and categorical variables.</a:t>
            </a:r>
          </a:p>
          <a:p>
            <a:r>
              <a:rPr lang="en-GB" dirty="0" smtClean="0"/>
              <a:t>Performed Bivariate Analysis to identify relationship between variables.</a:t>
            </a:r>
          </a:p>
          <a:p>
            <a:r>
              <a:rPr lang="en-GB" dirty="0" smtClean="0"/>
              <a:t>Performed Multivariate Analysis involving three or more variables.</a:t>
            </a:r>
          </a:p>
          <a:p>
            <a:r>
              <a:rPr lang="en-GB" dirty="0" smtClean="0"/>
              <a:t>Detect and interpretation outliers.</a:t>
            </a:r>
          </a:p>
          <a:p>
            <a:r>
              <a:rPr lang="en-GB" dirty="0" smtClean="0"/>
              <a:t>Measure correlations between numeric variables.</a:t>
            </a:r>
          </a:p>
          <a:p>
            <a:r>
              <a:rPr lang="en-GB" dirty="0" smtClean="0"/>
              <a:t>Measure  Skewness &amp; Kurtosis for distribution shape.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9870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Dataset overview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1234911"/>
            <a:ext cx="10018713" cy="5623089"/>
          </a:xfrm>
        </p:spPr>
        <p:txBody>
          <a:bodyPr>
            <a:normAutofit/>
          </a:bodyPr>
          <a:lstStyle/>
          <a:p>
            <a:r>
              <a:rPr lang="en-GB" dirty="0" smtClean="0"/>
              <a:t>Dataset size : </a:t>
            </a:r>
          </a:p>
          <a:p>
            <a:pPr lvl="4"/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100000 Rows </a:t>
            </a:r>
          </a:p>
          <a:p>
            <a:pPr lvl="4"/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 Columns</a:t>
            </a:r>
          </a:p>
          <a:p>
            <a:endParaRPr lang="en-GB" dirty="0" smtClean="0"/>
          </a:p>
          <a:p>
            <a:r>
              <a:rPr lang="en-GB" dirty="0" smtClean="0"/>
              <a:t>Variable type :</a:t>
            </a:r>
          </a:p>
          <a:p>
            <a:pPr lvl="4"/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Numerical, Categorical, Date.</a:t>
            </a:r>
          </a:p>
          <a:p>
            <a:endParaRPr lang="en-GB" dirty="0" smtClean="0"/>
          </a:p>
          <a:p>
            <a:r>
              <a:rPr lang="en-GB" dirty="0" smtClean="0"/>
              <a:t>Major areas:</a:t>
            </a:r>
          </a:p>
          <a:p>
            <a:pPr lvl="4"/>
            <a:r>
              <a:rPr lang="en-GB" sz="1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Customer information</a:t>
            </a:r>
          </a:p>
          <a:p>
            <a:pPr lvl="4"/>
            <a:r>
              <a:rPr lang="en-GB" sz="1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Product information</a:t>
            </a:r>
          </a:p>
          <a:p>
            <a:pPr lvl="4"/>
            <a:r>
              <a:rPr lang="en-GB" sz="1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Order information</a:t>
            </a:r>
          </a:p>
          <a:p>
            <a:pPr lvl="4"/>
            <a:r>
              <a:rPr lang="en-GB" sz="1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pricing and discount </a:t>
            </a:r>
          </a:p>
          <a:p>
            <a:pPr lvl="4"/>
            <a:r>
              <a:rPr lang="en-GB" sz="1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Payment</a:t>
            </a:r>
          </a:p>
          <a:p>
            <a:pPr lvl="4"/>
            <a:r>
              <a:rPr lang="en-GB" sz="1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Shipping and delivery</a:t>
            </a:r>
          </a:p>
          <a:p>
            <a:pPr lvl="4"/>
            <a:r>
              <a:rPr lang="en-GB" sz="1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Return status</a:t>
            </a:r>
          </a:p>
          <a:p>
            <a:pPr lvl="4"/>
            <a:endParaRPr lang="en-GB" dirty="0" smtClean="0"/>
          </a:p>
          <a:p>
            <a:pPr lvl="4"/>
            <a:endParaRPr lang="en-GB" dirty="0" smtClean="0"/>
          </a:p>
          <a:p>
            <a:pPr lvl="4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538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3816" y="0"/>
            <a:ext cx="8911687" cy="1280890"/>
          </a:xfrm>
        </p:spPr>
        <p:txBody>
          <a:bodyPr/>
          <a:lstStyle/>
          <a:p>
            <a:r>
              <a:rPr lang="en-GB" dirty="0" smtClean="0"/>
              <a:t>Univariate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816" y="896908"/>
            <a:ext cx="8915400" cy="5880963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Univariate analysis examines one variable at a time</a:t>
            </a:r>
          </a:p>
          <a:p>
            <a:endParaRPr lang="en-GB" dirty="0"/>
          </a:p>
          <a:p>
            <a:r>
              <a:rPr lang="en-GB" dirty="0" smtClean="0"/>
              <a:t>Numerical  Analysis :</a:t>
            </a:r>
          </a:p>
          <a:p>
            <a:pPr lvl="6"/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Mean </a:t>
            </a:r>
          </a:p>
          <a:p>
            <a:pPr lvl="6"/>
            <a:r>
              <a:rPr lang="en-GB" sz="1600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Mediam</a:t>
            </a:r>
            <a:endParaRPr lang="en-GB" sz="16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6"/>
            <a:r>
              <a:rPr lang="en-GB" sz="1600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Standared</a:t>
            </a:r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6"/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Minimum</a:t>
            </a:r>
          </a:p>
          <a:p>
            <a:pPr lvl="6"/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Maximum</a:t>
            </a:r>
          </a:p>
          <a:p>
            <a:pPr lvl="6"/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Skewness</a:t>
            </a:r>
          </a:p>
          <a:p>
            <a:pPr lvl="6"/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Kurtosis</a:t>
            </a:r>
          </a:p>
          <a:p>
            <a:pPr lvl="6"/>
            <a:endParaRPr lang="en-GB" dirty="0" smtClean="0"/>
          </a:p>
          <a:p>
            <a:r>
              <a:rPr lang="en-GB" dirty="0" smtClean="0"/>
              <a:t>Example :</a:t>
            </a:r>
          </a:p>
          <a:p>
            <a:pPr lvl="4"/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Average Age : 41.56 year</a:t>
            </a:r>
          </a:p>
          <a:p>
            <a:pPr lvl="4"/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Average Product Price : 30164.53</a:t>
            </a:r>
          </a:p>
          <a:p>
            <a:pPr lvl="4"/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Average Quantity : 2.50</a:t>
            </a:r>
          </a:p>
          <a:p>
            <a:pPr lvl="4"/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Average Discount : 15.01%</a:t>
            </a:r>
          </a:p>
          <a:p>
            <a:pPr lvl="4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758346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6638" y="256465"/>
            <a:ext cx="8911687" cy="1280890"/>
          </a:xfrm>
        </p:spPr>
        <p:txBody>
          <a:bodyPr/>
          <a:lstStyle/>
          <a:p>
            <a:r>
              <a:rPr lang="en-GB" dirty="0" smtClean="0"/>
              <a:t>Categorical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264555"/>
            <a:ext cx="8915400" cy="5456756"/>
          </a:xfrm>
        </p:spPr>
        <p:txBody>
          <a:bodyPr>
            <a:normAutofit/>
          </a:bodyPr>
          <a:lstStyle/>
          <a:p>
            <a:r>
              <a:rPr lang="en-GB" dirty="0"/>
              <a:t>Categorical variables were analyzed using frequency counts and distributions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r>
              <a:rPr lang="en-GB" dirty="0" smtClean="0"/>
              <a:t>Customer category</a:t>
            </a:r>
          </a:p>
          <a:p>
            <a:r>
              <a:rPr lang="en-GB" dirty="0" smtClean="0"/>
              <a:t>Customer segment</a:t>
            </a:r>
          </a:p>
          <a:p>
            <a:r>
              <a:rPr lang="en-GB" dirty="0" smtClean="0"/>
              <a:t>Shipping type</a:t>
            </a:r>
          </a:p>
          <a:p>
            <a:endParaRPr lang="en-GB" dirty="0"/>
          </a:p>
          <a:p>
            <a:r>
              <a:rPr lang="en-GB" dirty="0" smtClean="0"/>
              <a:t>Purpose :</a:t>
            </a:r>
          </a:p>
          <a:p>
            <a:pPr lvl="3"/>
            <a:r>
              <a:rPr lang="en-GB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Understand the composition of customers</a:t>
            </a:r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</a:p>
          <a:p>
            <a:pPr lvl="3"/>
            <a:r>
              <a:rPr lang="en-GB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Identify frequently occurring product categories</a:t>
            </a:r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</a:p>
          <a:p>
            <a:pPr lvl="3"/>
            <a:r>
              <a:rPr lang="en-GB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Compare customer segments</a:t>
            </a:r>
            <a:r>
              <a:rPr lang="en-GB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</a:p>
          <a:p>
            <a:pPr lvl="3"/>
            <a:r>
              <a:rPr lang="en-GB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Understand payment and shipping preferences.</a:t>
            </a:r>
            <a:endParaRPr lang="en-GB" sz="16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1149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199118"/>
            <a:ext cx="8911687" cy="998085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Bivariate Analysis</a:t>
            </a:r>
            <a:br>
              <a:rPr lang="en-GB" dirty="0" smtClean="0"/>
            </a:br>
            <a:r>
              <a:rPr lang="en-GB" sz="2000" dirty="0" smtClean="0">
                <a:solidFill>
                  <a:srgbClr val="C00000"/>
                </a:solidFill>
              </a:rPr>
              <a:t>Bivariate </a:t>
            </a:r>
            <a:r>
              <a:rPr lang="en-GB" sz="2000" dirty="0">
                <a:solidFill>
                  <a:srgbClr val="C00000"/>
                </a:solidFill>
              </a:rPr>
              <a:t>analysis examines the relationship between two variables.</a:t>
            </a:r>
            <a:br>
              <a:rPr lang="en-GB" sz="2000" dirty="0">
                <a:solidFill>
                  <a:srgbClr val="C00000"/>
                </a:solidFill>
              </a:rPr>
            </a:br>
            <a:endParaRPr lang="en-GB" sz="20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659118"/>
            <a:ext cx="9350836" cy="4223824"/>
          </a:xfrm>
        </p:spPr>
        <p:txBody>
          <a:bodyPr>
            <a:normAutofit lnSpcReduction="10000"/>
          </a:bodyPr>
          <a:lstStyle/>
          <a:p>
            <a:endParaRPr lang="en-GB" dirty="0" smtClean="0"/>
          </a:p>
          <a:p>
            <a:r>
              <a:rPr lang="en-GB" dirty="0" smtClean="0"/>
              <a:t> Product price Vs Final Price</a:t>
            </a:r>
          </a:p>
          <a:p>
            <a:r>
              <a:rPr lang="en-GB" dirty="0" smtClean="0"/>
              <a:t>Quantity </a:t>
            </a:r>
            <a:r>
              <a:rPr lang="en-GB" dirty="0"/>
              <a:t>And Final </a:t>
            </a:r>
            <a:r>
              <a:rPr lang="en-GB" dirty="0" smtClean="0"/>
              <a:t>Price</a:t>
            </a:r>
          </a:p>
          <a:p>
            <a:r>
              <a:rPr lang="en-GB" dirty="0"/>
              <a:t>Age and </a:t>
            </a:r>
            <a:r>
              <a:rPr lang="en-GB" dirty="0" smtClean="0"/>
              <a:t>Spending</a:t>
            </a:r>
          </a:p>
          <a:p>
            <a:r>
              <a:rPr lang="en-GB" dirty="0" err="1"/>
              <a:t>Delevery</a:t>
            </a:r>
            <a:r>
              <a:rPr lang="en-GB" dirty="0"/>
              <a:t> Day And Return </a:t>
            </a:r>
            <a:r>
              <a:rPr lang="en-GB" dirty="0" smtClean="0"/>
              <a:t>Status</a:t>
            </a:r>
          </a:p>
          <a:p>
            <a:r>
              <a:rPr lang="en-GB" dirty="0"/>
              <a:t>Segment vs </a:t>
            </a:r>
            <a:r>
              <a:rPr lang="en-GB" dirty="0" err="1"/>
              <a:t>Avg</a:t>
            </a:r>
            <a:r>
              <a:rPr lang="en-GB" dirty="0"/>
              <a:t> </a:t>
            </a:r>
            <a:r>
              <a:rPr lang="en-GB" dirty="0" smtClean="0"/>
              <a:t>Price</a:t>
            </a:r>
          </a:p>
          <a:p>
            <a:r>
              <a:rPr lang="en-GB" dirty="0"/>
              <a:t>Product Category vs Return </a:t>
            </a:r>
            <a:r>
              <a:rPr lang="en-GB" dirty="0" smtClean="0"/>
              <a:t>Rate</a:t>
            </a:r>
          </a:p>
          <a:p>
            <a:r>
              <a:rPr lang="en-GB" dirty="0"/>
              <a:t> Shipping Type vs Delivery </a:t>
            </a:r>
            <a:r>
              <a:rPr lang="en-GB" dirty="0" smtClean="0"/>
              <a:t>Days</a:t>
            </a:r>
          </a:p>
          <a:p>
            <a:endParaRPr lang="en-GB" dirty="0"/>
          </a:p>
          <a:p>
            <a:r>
              <a:rPr lang="en-GB" dirty="0"/>
              <a:t>These comparisons help identify relationships and differences between important business variables.</a:t>
            </a:r>
            <a:endParaRPr lang="en-GB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871" y="1545995"/>
            <a:ext cx="5414129" cy="341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13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0"/>
            <a:ext cx="8911687" cy="1280890"/>
          </a:xfrm>
        </p:spPr>
        <p:txBody>
          <a:bodyPr/>
          <a:lstStyle/>
          <a:p>
            <a:r>
              <a:rPr lang="en-GB" dirty="0"/>
              <a:t>Outlier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678731"/>
            <a:ext cx="8915400" cy="562780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The </a:t>
            </a:r>
            <a:r>
              <a:rPr lang="en-GB" b="1" dirty="0"/>
              <a:t>IQR (</a:t>
            </a:r>
            <a:r>
              <a:rPr lang="en-GB" b="1" dirty="0" smtClean="0"/>
              <a:t>Interquartile </a:t>
            </a:r>
            <a:r>
              <a:rPr lang="en-GB" b="1" dirty="0"/>
              <a:t>Range)</a:t>
            </a:r>
            <a:r>
              <a:rPr lang="en-GB" dirty="0"/>
              <a:t> method was used</a:t>
            </a:r>
            <a:r>
              <a:rPr lang="en-GB" dirty="0" smtClean="0"/>
              <a:t>.</a:t>
            </a:r>
          </a:p>
          <a:p>
            <a:endParaRPr lang="en-GB" dirty="0" smtClean="0"/>
          </a:p>
          <a:p>
            <a:r>
              <a:rPr lang="en-GB" dirty="0" smtClean="0"/>
              <a:t>Age</a:t>
            </a:r>
          </a:p>
          <a:p>
            <a:r>
              <a:rPr lang="en-GB" dirty="0"/>
              <a:t>P</a:t>
            </a:r>
            <a:r>
              <a:rPr lang="en-GB" dirty="0" smtClean="0"/>
              <a:t>roduct price</a:t>
            </a:r>
          </a:p>
          <a:p>
            <a:r>
              <a:rPr lang="en-GB" dirty="0" smtClean="0"/>
              <a:t>Quantity</a:t>
            </a:r>
          </a:p>
          <a:p>
            <a:r>
              <a:rPr lang="en-GB" dirty="0"/>
              <a:t>D</a:t>
            </a:r>
            <a:r>
              <a:rPr lang="en-GB" dirty="0" smtClean="0"/>
              <a:t>iscount percentage</a:t>
            </a:r>
          </a:p>
          <a:p>
            <a:r>
              <a:rPr lang="en-GB" dirty="0"/>
              <a:t>F</a:t>
            </a:r>
            <a:r>
              <a:rPr lang="en-GB" dirty="0" smtClean="0"/>
              <a:t>inal price</a:t>
            </a:r>
          </a:p>
          <a:p>
            <a:r>
              <a:rPr lang="en-GB" dirty="0"/>
              <a:t>D</a:t>
            </a:r>
            <a:r>
              <a:rPr lang="en-GB" dirty="0" smtClean="0"/>
              <a:t>elivery days</a:t>
            </a:r>
            <a:endParaRPr lang="en-GB" dirty="0"/>
          </a:p>
          <a:p>
            <a:endParaRPr lang="en-GB" dirty="0" smtClean="0"/>
          </a:p>
          <a:p>
            <a:r>
              <a:rPr lang="en-GB" dirty="0" smtClean="0"/>
              <a:t>Result :</a:t>
            </a:r>
          </a:p>
          <a:p>
            <a:pPr lvl="3"/>
            <a:r>
              <a:rPr lang="en-GB" sz="23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Age : 0 outliers</a:t>
            </a:r>
          </a:p>
          <a:p>
            <a:pPr lvl="3"/>
            <a:r>
              <a:rPr lang="en-GB" sz="23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Product price : 0 outliers</a:t>
            </a:r>
          </a:p>
          <a:p>
            <a:pPr lvl="3"/>
            <a:r>
              <a:rPr lang="en-GB" sz="23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Quantity :  0 outliers</a:t>
            </a:r>
          </a:p>
          <a:p>
            <a:pPr lvl="3"/>
            <a:r>
              <a:rPr lang="en-GB" sz="23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Discount percentage : 0 outliers</a:t>
            </a:r>
          </a:p>
          <a:p>
            <a:pPr lvl="3"/>
            <a:r>
              <a:rPr lang="en-GB" sz="23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Final price : 503 potential outliers </a:t>
            </a:r>
          </a:p>
          <a:p>
            <a:pPr lvl="3"/>
            <a:r>
              <a:rPr lang="en-GB" sz="2300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Delevery</a:t>
            </a:r>
            <a:r>
              <a:rPr lang="en-GB" sz="23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days : 0 outliers</a:t>
            </a:r>
          </a:p>
          <a:p>
            <a:pPr lvl="3"/>
            <a:endParaRPr lang="en-GB" sz="23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3"/>
            <a:endParaRPr lang="en-GB" dirty="0" smtClean="0"/>
          </a:p>
          <a:p>
            <a:pPr lvl="3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6971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188" y="105636"/>
            <a:ext cx="8911687" cy="1280890"/>
          </a:xfrm>
        </p:spPr>
        <p:txBody>
          <a:bodyPr>
            <a:normAutofit/>
          </a:bodyPr>
          <a:lstStyle/>
          <a:p>
            <a:r>
              <a:rPr lang="en-GB" dirty="0"/>
              <a:t>Correlation </a:t>
            </a:r>
            <a:r>
              <a:rPr lang="en-GB" dirty="0" smtClean="0"/>
              <a:t>Analysis</a:t>
            </a:r>
            <a:br>
              <a:rPr lang="en-GB" dirty="0" smtClean="0"/>
            </a:br>
            <a:r>
              <a:rPr lang="en-GB" sz="2000" dirty="0">
                <a:solidFill>
                  <a:srgbClr val="C00000"/>
                </a:solidFill>
              </a:rPr>
              <a:t>A correlation matrix and heatmap were used to examine numerical relationships.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88" y="1424233"/>
            <a:ext cx="8915400" cy="5297078"/>
          </a:xfrm>
        </p:spPr>
        <p:txBody>
          <a:bodyPr>
            <a:normAutofit/>
          </a:bodyPr>
          <a:lstStyle/>
          <a:p>
            <a:r>
              <a:rPr lang="en-GB" dirty="0" smtClean="0"/>
              <a:t>Variables:</a:t>
            </a:r>
          </a:p>
          <a:p>
            <a:pPr lvl="2"/>
            <a:r>
              <a:rPr lang="en-GB" sz="1600" dirty="0" smtClean="0">
                <a:solidFill>
                  <a:srgbClr val="FF0000"/>
                </a:solidFill>
              </a:rPr>
              <a:t>Age</a:t>
            </a:r>
          </a:p>
          <a:p>
            <a:pPr lvl="2"/>
            <a:r>
              <a:rPr lang="en-GB" sz="1600" dirty="0" smtClean="0">
                <a:solidFill>
                  <a:srgbClr val="FF0000"/>
                </a:solidFill>
              </a:rPr>
              <a:t>Product_price</a:t>
            </a:r>
          </a:p>
          <a:p>
            <a:pPr lvl="2"/>
            <a:r>
              <a:rPr lang="en-GB" sz="1600" dirty="0" smtClean="0">
                <a:solidFill>
                  <a:srgbClr val="FF0000"/>
                </a:solidFill>
              </a:rPr>
              <a:t>Quantity</a:t>
            </a:r>
          </a:p>
          <a:p>
            <a:pPr lvl="2"/>
            <a:r>
              <a:rPr lang="en-GB" sz="1600" dirty="0" smtClean="0">
                <a:solidFill>
                  <a:srgbClr val="FF0000"/>
                </a:solidFill>
              </a:rPr>
              <a:t>Discount_percentage</a:t>
            </a:r>
            <a:endParaRPr lang="en-GB" sz="1600" dirty="0">
              <a:solidFill>
                <a:srgbClr val="FF0000"/>
              </a:solidFill>
            </a:endParaRPr>
          </a:p>
          <a:p>
            <a:pPr lvl="2"/>
            <a:r>
              <a:rPr lang="en-GB" sz="1600" dirty="0" smtClean="0">
                <a:solidFill>
                  <a:srgbClr val="FF0000"/>
                </a:solidFill>
              </a:rPr>
              <a:t>Final price</a:t>
            </a:r>
          </a:p>
          <a:p>
            <a:pPr lvl="2"/>
            <a:r>
              <a:rPr lang="en-GB" sz="1600" dirty="0" smtClean="0">
                <a:solidFill>
                  <a:srgbClr val="FF0000"/>
                </a:solidFill>
              </a:rPr>
              <a:t>Delevery_days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r>
              <a:rPr lang="en-GB" dirty="0" smtClean="0"/>
              <a:t>Final_price is strongly related to pricing </a:t>
            </a:r>
            <a:r>
              <a:rPr lang="en-GB" dirty="0" err="1" smtClean="0"/>
              <a:t>rrelated</a:t>
            </a:r>
            <a:r>
              <a:rPr lang="en-GB" dirty="0" smtClean="0"/>
              <a:t> variable</a:t>
            </a:r>
          </a:p>
          <a:p>
            <a:r>
              <a:rPr lang="en-GB" dirty="0" smtClean="0"/>
              <a:t>Discount_percentage has a negative relationship with </a:t>
            </a:r>
            <a:r>
              <a:rPr lang="en-GB" dirty="0" err="1" smtClean="0"/>
              <a:t>final_price</a:t>
            </a:r>
            <a:r>
              <a:rPr lang="en-GB" dirty="0" smtClean="0"/>
              <a:t>.</a:t>
            </a:r>
          </a:p>
          <a:p>
            <a:r>
              <a:rPr lang="en-GB" dirty="0" err="1" smtClean="0"/>
              <a:t>Delevery</a:t>
            </a:r>
            <a:r>
              <a:rPr lang="en-GB" dirty="0" smtClean="0"/>
              <a:t> days has relatively low relationships with spending related variables.</a:t>
            </a:r>
          </a:p>
          <a:p>
            <a:pPr marL="0" indent="0">
              <a:buNone/>
            </a:pPr>
            <a:endParaRPr lang="en-GB" dirty="0" smtClean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299" y="1734532"/>
            <a:ext cx="4592416" cy="348791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  <a:bevelB/>
          </a:sp3d>
        </p:spPr>
      </p:pic>
    </p:spTree>
    <p:extLst>
      <p:ext uri="{BB962C8B-B14F-4D97-AF65-F5344CB8AC3E}">
        <p14:creationId xmlns:p14="http://schemas.microsoft.com/office/powerpoint/2010/main" val="1210455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4409" y="-11412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Skewness analysis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408" y="612742"/>
            <a:ext cx="6749591" cy="289402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408" y="3638746"/>
            <a:ext cx="6749591" cy="30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442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77355"/>
            <a:ext cx="8911687" cy="95959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Kurtosis Analysis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sz="2000" dirty="0" smtClean="0">
                <a:solidFill>
                  <a:srgbClr val="C00000"/>
                </a:solidFill>
              </a:rPr>
              <a:t>Most variables have negative kurtosis.</a:t>
            </a:r>
            <a:r>
              <a:rPr lang="en-GB" dirty="0" smtClean="0">
                <a:solidFill>
                  <a:srgbClr val="C00000"/>
                </a:solidFill>
              </a:rPr>
              <a:t/>
            </a:r>
            <a:br>
              <a:rPr lang="en-GB" dirty="0" smtClean="0">
                <a:solidFill>
                  <a:srgbClr val="C00000"/>
                </a:solidFill>
              </a:rPr>
            </a:br>
            <a:r>
              <a:rPr lang="en-GB" dirty="0">
                <a:solidFill>
                  <a:srgbClr val="C00000"/>
                </a:solidFill>
              </a:rPr>
              <a:t/>
            </a:r>
            <a:br>
              <a:rPr lang="en-GB" dirty="0">
                <a:solidFill>
                  <a:srgbClr val="C00000"/>
                </a:solidFill>
              </a:rPr>
            </a:br>
            <a:endParaRPr lang="en-GB" dirty="0">
              <a:solidFill>
                <a:srgbClr val="C0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25" y="1575060"/>
            <a:ext cx="5203042" cy="440980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967" y="1575060"/>
            <a:ext cx="4396033" cy="441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80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124490"/>
            <a:ext cx="8911687" cy="657935"/>
          </a:xfrm>
        </p:spPr>
        <p:txBody>
          <a:bodyPr>
            <a:normAutofit fontScale="90000"/>
          </a:bodyPr>
          <a:lstStyle/>
          <a:p>
            <a:r>
              <a:rPr lang="en-GB" dirty="0"/>
              <a:t>Multivariate Analysis</a:t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sz="2200" dirty="0" smtClean="0">
                <a:solidFill>
                  <a:srgbClr val="C00000"/>
                </a:solidFill>
              </a:rPr>
              <a:t>Multivariate </a:t>
            </a:r>
            <a:r>
              <a:rPr lang="en-GB" sz="2200" dirty="0">
                <a:solidFill>
                  <a:srgbClr val="C00000"/>
                </a:solidFill>
              </a:rPr>
              <a:t>analysis examines three or more variables together.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5499" y="1586844"/>
            <a:ext cx="8915400" cy="506847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Product </a:t>
            </a:r>
            <a:r>
              <a:rPr lang="en-GB" dirty="0" smtClean="0"/>
              <a:t>Category </a:t>
            </a:r>
            <a:r>
              <a:rPr lang="en-GB" dirty="0"/>
              <a:t>x Discount x Final </a:t>
            </a:r>
            <a:r>
              <a:rPr lang="en-GB" dirty="0" smtClean="0"/>
              <a:t>Price</a:t>
            </a:r>
          </a:p>
          <a:p>
            <a:r>
              <a:rPr lang="en-GB" dirty="0" smtClean="0"/>
              <a:t>Customer Segment </a:t>
            </a:r>
            <a:r>
              <a:rPr lang="en-GB" dirty="0"/>
              <a:t>x Age x </a:t>
            </a:r>
            <a:r>
              <a:rPr lang="en-GB" dirty="0" smtClean="0"/>
              <a:t>Spending</a:t>
            </a:r>
          </a:p>
          <a:p>
            <a:r>
              <a:rPr lang="en-GB" dirty="0"/>
              <a:t>Delivery Days × Shipping Type × Return </a:t>
            </a:r>
            <a:r>
              <a:rPr lang="en-GB" dirty="0" smtClean="0"/>
              <a:t>Status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r>
              <a:rPr lang="en-GB" dirty="0" smtClean="0"/>
              <a:t>Return related multivariate analysis excluded because return_status is null.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499" y="2799762"/>
            <a:ext cx="7538889" cy="295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560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Key </a:t>
            </a:r>
            <a:r>
              <a:rPr lang="en-GB" dirty="0" err="1" smtClean="0"/>
              <a:t>statical</a:t>
            </a:r>
            <a:r>
              <a:rPr lang="en-GB" dirty="0" smtClean="0"/>
              <a:t> finding</a:t>
            </a:r>
            <a:br>
              <a:rPr lang="en-GB" dirty="0" smtClean="0"/>
            </a:b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24" y="2056931"/>
            <a:ext cx="6579355" cy="4372149"/>
          </a:xfrm>
        </p:spPr>
      </p:pic>
    </p:spTree>
    <p:extLst>
      <p:ext uri="{BB962C8B-B14F-4D97-AF65-F5344CB8AC3E}">
        <p14:creationId xmlns:p14="http://schemas.microsoft.com/office/powerpoint/2010/main" val="3107526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conclosion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574" y="2133600"/>
            <a:ext cx="6624677" cy="3778250"/>
          </a:xfrm>
        </p:spPr>
      </p:pic>
    </p:spTree>
    <p:extLst>
      <p:ext uri="{BB962C8B-B14F-4D97-AF65-F5344CB8AC3E}">
        <p14:creationId xmlns:p14="http://schemas.microsoft.com/office/powerpoint/2010/main" val="1853535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Challenges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388882"/>
            <a:ext cx="8915400" cy="5469118"/>
          </a:xfrm>
        </p:spPr>
        <p:txBody>
          <a:bodyPr>
            <a:normAutofit lnSpcReduction="10000"/>
          </a:bodyPr>
          <a:lstStyle/>
          <a:p>
            <a:r>
              <a:rPr lang="en-GB" sz="2000" dirty="0"/>
              <a:t>Missing Values </a:t>
            </a:r>
            <a:endParaRPr lang="en-GB" sz="2000" dirty="0" smtClean="0"/>
          </a:p>
          <a:p>
            <a:r>
              <a:rPr lang="en-GB" sz="2000" dirty="0"/>
              <a:t>Outlier Detection </a:t>
            </a:r>
            <a:endParaRPr lang="en-GB" sz="2000" dirty="0" smtClean="0"/>
          </a:p>
          <a:p>
            <a:r>
              <a:rPr lang="en-GB" sz="2000" dirty="0"/>
              <a:t>Data </a:t>
            </a:r>
            <a:r>
              <a:rPr lang="en-GB" sz="2000" dirty="0" smtClean="0"/>
              <a:t>Visualization</a:t>
            </a:r>
          </a:p>
          <a:p>
            <a:r>
              <a:rPr lang="en-GB" sz="2000" dirty="0"/>
              <a:t>Different Variable </a:t>
            </a:r>
            <a:r>
              <a:rPr lang="en-GB" sz="2000" dirty="0" smtClean="0"/>
              <a:t>Scales</a:t>
            </a:r>
          </a:p>
          <a:p>
            <a:r>
              <a:rPr lang="en-GB" sz="2000" dirty="0"/>
              <a:t>Interpreting </a:t>
            </a:r>
            <a:r>
              <a:rPr lang="en-GB" sz="2000" dirty="0" smtClean="0"/>
              <a:t>Correlation</a:t>
            </a:r>
          </a:p>
          <a:p>
            <a:r>
              <a:rPr lang="en-GB" sz="2000" dirty="0"/>
              <a:t>Large Dataset </a:t>
            </a:r>
            <a:endParaRPr lang="en-GB" sz="2000" dirty="0" smtClean="0"/>
          </a:p>
          <a:p>
            <a:r>
              <a:rPr lang="en-GB" sz="2000" dirty="0"/>
              <a:t>Different Numerical Scales </a:t>
            </a:r>
            <a:endParaRPr lang="en-GB" sz="2000" dirty="0" smtClean="0"/>
          </a:p>
          <a:p>
            <a:r>
              <a:rPr lang="en-GB" sz="2000" dirty="0"/>
              <a:t>Visualization </a:t>
            </a:r>
            <a:r>
              <a:rPr lang="en-GB" sz="2000" dirty="0" smtClean="0"/>
              <a:t>Issues</a:t>
            </a:r>
          </a:p>
          <a:p>
            <a:r>
              <a:rPr lang="en-GB" sz="2000" dirty="0"/>
              <a:t>Skewness </a:t>
            </a:r>
            <a:r>
              <a:rPr lang="en-GB" sz="2000" dirty="0" smtClean="0"/>
              <a:t>Interpretation</a:t>
            </a:r>
          </a:p>
          <a:p>
            <a:r>
              <a:rPr lang="en-GB" sz="2000" dirty="0"/>
              <a:t>Statistical </a:t>
            </a:r>
            <a:r>
              <a:rPr lang="en-GB" sz="2000" dirty="0" smtClean="0"/>
              <a:t>Analysis ETC.</a:t>
            </a:r>
          </a:p>
          <a:p>
            <a:endParaRPr lang="en-GB" sz="2000" dirty="0"/>
          </a:p>
          <a:p>
            <a:r>
              <a:rPr lang="en-GB" sz="2000" dirty="0"/>
              <a:t>The project demonstrates how EDA and statistical techniques can be used to understand retail transaction data and support data-driven business analysis.</a:t>
            </a:r>
            <a:endParaRPr lang="en-GB" sz="2000" dirty="0" smtClean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988273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179</TotalTime>
  <Words>521</Words>
  <Application>Microsoft Office PowerPoint</Application>
  <PresentationFormat>Widescreen</PresentationFormat>
  <Paragraphs>163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Wisp</vt:lpstr>
      <vt:lpstr>Retail Dataset – Exploratory Data Analysis (EDA) </vt:lpstr>
      <vt:lpstr>Introduction</vt:lpstr>
      <vt:lpstr>Subtitle</vt:lpstr>
      <vt:lpstr>Project overview</vt:lpstr>
      <vt:lpstr>Project objective</vt:lpstr>
      <vt:lpstr>Dataset overview</vt:lpstr>
      <vt:lpstr>Univariate Analysis</vt:lpstr>
      <vt:lpstr>Categorical Analysis</vt:lpstr>
      <vt:lpstr>Bivariate Analysis Bivariate analysis examines the relationship between two variables. </vt:lpstr>
      <vt:lpstr>Outlier Detection</vt:lpstr>
      <vt:lpstr>Correlation Analysis A correlation matrix and heatmap were used to examine numerical relationships.</vt:lpstr>
      <vt:lpstr>Skewness analysis   </vt:lpstr>
      <vt:lpstr>Kurtosis Analysis  Most variables have negative kurtosis.  </vt:lpstr>
      <vt:lpstr>Multivariate Analysis  Multivariate analysis examines three or more variables together.</vt:lpstr>
      <vt:lpstr>Key statical finding </vt:lpstr>
      <vt:lpstr>conclosion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Dataset – Exploratory data analysis</dc:title>
  <dc:creator>dell</dc:creator>
  <cp:lastModifiedBy>dell</cp:lastModifiedBy>
  <cp:revision>31</cp:revision>
  <dcterms:created xsi:type="dcterms:W3CDTF">2026-09-25T12:23:37Z</dcterms:created>
  <dcterms:modified xsi:type="dcterms:W3CDTF">2026-09-25T15:23:34Z</dcterms:modified>
</cp:coreProperties>
</file>